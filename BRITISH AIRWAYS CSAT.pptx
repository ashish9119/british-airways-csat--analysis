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5" r:id="rId10"/>
    <p:sldId id="266" r:id="rId11"/>
    <p:sldId id="267"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4660"/>
  </p:normalViewPr>
  <p:slideViewPr>
    <p:cSldViewPr snapToGrid="0">
      <p:cViewPr varScale="1">
        <p:scale>
          <a:sx n="59" d="100"/>
          <a:sy n="59" d="100"/>
        </p:scale>
        <p:origin x="132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B971A8-0601-458F-8454-153A0E6F6814}" type="datetimeFigureOut">
              <a:rPr lang="en-IN" smtClean="0"/>
              <a:t>20-07-2026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42AEB3-47E2-4714-AFA7-639A5B4AF5C4}" type="slidenum">
              <a:rPr lang="en-IN" smtClean="0"/>
              <a:t>‹#›</a:t>
            </a:fld>
            <a:endParaRPr lang="en-IN"/>
          </a:p>
        </p:txBody>
      </p:sp>
    </p:spTree>
    <p:extLst>
      <p:ext uri="{BB962C8B-B14F-4D97-AF65-F5344CB8AC3E}">
        <p14:creationId xmlns:p14="http://schemas.microsoft.com/office/powerpoint/2010/main" val="41606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540EF-66B6-C428-8C01-0C2898E163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52D7B8A-C639-118F-19B3-971040877B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1CDA67D-E83E-84A6-3B29-B7A6E4D644CC}"/>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5" name="Footer Placeholder 4">
            <a:extLst>
              <a:ext uri="{FF2B5EF4-FFF2-40B4-BE49-F238E27FC236}">
                <a16:creationId xmlns:a16="http://schemas.microsoft.com/office/drawing/2014/main" id="{562CCE56-65E6-EF56-2F0B-9D11E55762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DCAA71-D845-C1A3-0492-51005FE9170C}"/>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3180777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B5C8A-CDCB-143B-27DD-C9452D8E48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6B0E15-06E7-5761-8E81-6A2F07FBBF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ABFAE2-4893-B6A7-BDB6-38CDA5882416}"/>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5" name="Footer Placeholder 4">
            <a:extLst>
              <a:ext uri="{FF2B5EF4-FFF2-40B4-BE49-F238E27FC236}">
                <a16:creationId xmlns:a16="http://schemas.microsoft.com/office/drawing/2014/main" id="{28CCF967-3164-8729-2C58-533F658A77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EF2E7-714F-F20F-0A26-FF881CC262AC}"/>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4212952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05F5-6E21-2148-527D-6BF1CA448A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71D215-D1DD-85E3-3EE3-507F8BF9B7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389C19-899E-5E79-4329-24852D06DEA1}"/>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5" name="Footer Placeholder 4">
            <a:extLst>
              <a:ext uri="{FF2B5EF4-FFF2-40B4-BE49-F238E27FC236}">
                <a16:creationId xmlns:a16="http://schemas.microsoft.com/office/drawing/2014/main" id="{A8D0F9F8-CE90-2857-A7DA-2C3CC72905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A73AE2-49A7-D3D3-0885-429300982DED}"/>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4148712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C4C7-E232-64E1-0438-CCECDFE8C7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E7E619-B6EE-DD31-054A-F8F15A610B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A860F8-1A56-1300-118F-7F6299D2F5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597D1C-6E42-2AF0-7BD3-67A6A589BDCD}"/>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6" name="Footer Placeholder 5">
            <a:extLst>
              <a:ext uri="{FF2B5EF4-FFF2-40B4-BE49-F238E27FC236}">
                <a16:creationId xmlns:a16="http://schemas.microsoft.com/office/drawing/2014/main" id="{45A0DE1F-05F8-1BEB-8A23-00FEC70B4A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DC5306-BFC6-A3F1-91AA-34C3BFBECF80}"/>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81057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D4E6-F6DA-59DC-06B2-0892425AE7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18049F-0667-72DC-CC69-A321BDC013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320694-8998-0378-4462-110AC8A8D7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0DD7BC-A0AE-B541-22C8-21B4D518BD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2B1DC8-B219-F387-0340-CA744D14A6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21B705-127B-CDAF-A1D0-06D147E2A55A}"/>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8" name="Footer Placeholder 7">
            <a:extLst>
              <a:ext uri="{FF2B5EF4-FFF2-40B4-BE49-F238E27FC236}">
                <a16:creationId xmlns:a16="http://schemas.microsoft.com/office/drawing/2014/main" id="{4C373B03-9FB9-5295-B758-4D6FE7DA37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27767D-6FF3-8435-776A-B2DF8386AD26}"/>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440627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C90B1-7CDD-4832-6B5E-79A7A638CC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2891DB-C780-AA80-1BA3-EA74876FCF46}"/>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4" name="Footer Placeholder 3">
            <a:extLst>
              <a:ext uri="{FF2B5EF4-FFF2-40B4-BE49-F238E27FC236}">
                <a16:creationId xmlns:a16="http://schemas.microsoft.com/office/drawing/2014/main" id="{9F05D0D3-45BA-9128-15FB-350138DA0B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76B8B2-AA5F-4713-08BA-1E3565BC12C1}"/>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1513595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3DCA10-74E2-D0E0-071B-61F06158D2D1}"/>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3" name="Footer Placeholder 2">
            <a:extLst>
              <a:ext uri="{FF2B5EF4-FFF2-40B4-BE49-F238E27FC236}">
                <a16:creationId xmlns:a16="http://schemas.microsoft.com/office/drawing/2014/main" id="{DF87E7C4-C43B-3427-C0F2-76F0D6CC57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F04AF6-8E97-18AC-7D76-EB8E92CFAC66}"/>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4292679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C8EA9-66BC-1F89-88BC-0C5E84CF0B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4D6295-50A1-3CE1-0DEC-D4727CE26E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208E081-9E0F-5C41-2E2B-16B9645B25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B99B99-68A8-A910-9527-CDEDF0B7C0FE}"/>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6" name="Footer Placeholder 5">
            <a:extLst>
              <a:ext uri="{FF2B5EF4-FFF2-40B4-BE49-F238E27FC236}">
                <a16:creationId xmlns:a16="http://schemas.microsoft.com/office/drawing/2014/main" id="{EF633E0F-0437-FB1C-5071-A306E381D2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F9D7C0-871C-45EA-6FA7-28FCA07C15F5}"/>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3787722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004AB-498B-291D-B595-C4072F51AB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F9880F4-C37B-B05D-C856-D0EE974825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2CE7499-50E3-AC9B-2D5F-4C3AE5369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D87CBD-A011-0AFE-A12A-2515E0D37779}"/>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6" name="Footer Placeholder 5">
            <a:extLst>
              <a:ext uri="{FF2B5EF4-FFF2-40B4-BE49-F238E27FC236}">
                <a16:creationId xmlns:a16="http://schemas.microsoft.com/office/drawing/2014/main" id="{D767CC00-759D-8A61-02EC-AAD271AFB2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DA8887-B69B-9923-BCFA-493146D0227A}"/>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2142742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9B90E-7746-9F87-6994-F459B225BE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D029CB-262A-FAA7-A750-F723CF50EC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60A5E-66AD-FE0F-0227-677748B972ED}"/>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5" name="Footer Placeholder 4">
            <a:extLst>
              <a:ext uri="{FF2B5EF4-FFF2-40B4-BE49-F238E27FC236}">
                <a16:creationId xmlns:a16="http://schemas.microsoft.com/office/drawing/2014/main" id="{304AC869-0C11-7767-B5FD-89E1712846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D0F45-4E2A-FDFB-6B51-60AE5682E890}"/>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169536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34428A-5416-5263-533B-20D7F85E6B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3C51D6-D01F-FC62-996D-2D4349C147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0DE47E-04F5-FE38-3BC3-48709A06A0CE}"/>
              </a:ext>
            </a:extLst>
          </p:cNvPr>
          <p:cNvSpPr>
            <a:spLocks noGrp="1"/>
          </p:cNvSpPr>
          <p:nvPr>
            <p:ph type="dt" sz="half" idx="10"/>
          </p:nvPr>
        </p:nvSpPr>
        <p:spPr/>
        <p:txBody>
          <a:bodyPr/>
          <a:lstStyle/>
          <a:p>
            <a:fld id="{94F9D96F-AAE3-4A39-9970-648AAA907D7A}" type="datetimeFigureOut">
              <a:rPr lang="en-IN" smtClean="0"/>
              <a:t>20-07-2026</a:t>
            </a:fld>
            <a:endParaRPr lang="en-IN"/>
          </a:p>
        </p:txBody>
      </p:sp>
      <p:sp>
        <p:nvSpPr>
          <p:cNvPr id="5" name="Footer Placeholder 4">
            <a:extLst>
              <a:ext uri="{FF2B5EF4-FFF2-40B4-BE49-F238E27FC236}">
                <a16:creationId xmlns:a16="http://schemas.microsoft.com/office/drawing/2014/main" id="{DEDFC448-D39D-9BA2-80EB-1A1A055627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C168EB-9143-2A88-48FD-9610DFB7031E}"/>
              </a:ext>
            </a:extLst>
          </p:cNvPr>
          <p:cNvSpPr>
            <a:spLocks noGrp="1"/>
          </p:cNvSpPr>
          <p:nvPr>
            <p:ph type="sldNum" sz="quarter" idx="12"/>
          </p:nvPr>
        </p:nvSpPr>
        <p:spPr/>
        <p:txBody>
          <a:bodyPr/>
          <a:lstStyle/>
          <a:p>
            <a:fld id="{2D050919-A35A-4C29-A571-D1B17A93F0E8}" type="slidenum">
              <a:rPr lang="en-IN" smtClean="0"/>
              <a:t>‹#›</a:t>
            </a:fld>
            <a:endParaRPr lang="en-IN"/>
          </a:p>
        </p:txBody>
      </p:sp>
    </p:spTree>
    <p:extLst>
      <p:ext uri="{BB962C8B-B14F-4D97-AF65-F5344CB8AC3E}">
        <p14:creationId xmlns:p14="http://schemas.microsoft.com/office/powerpoint/2010/main" val="3934061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E87CF8-7B5E-844C-182D-4B8F89AFFF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6069F4-89CB-6DD9-29CF-F61E3AEF8E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9068B5-3746-96CE-F69A-5F293778C2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F9D96F-AAE3-4A39-9970-648AAA907D7A}" type="datetimeFigureOut">
              <a:rPr lang="en-IN" smtClean="0"/>
              <a:t>20-07-2026</a:t>
            </a:fld>
            <a:endParaRPr lang="en-IN"/>
          </a:p>
        </p:txBody>
      </p:sp>
      <p:sp>
        <p:nvSpPr>
          <p:cNvPr id="5" name="Footer Placeholder 4">
            <a:extLst>
              <a:ext uri="{FF2B5EF4-FFF2-40B4-BE49-F238E27FC236}">
                <a16:creationId xmlns:a16="http://schemas.microsoft.com/office/drawing/2014/main" id="{F3B8DCE9-7AB4-B9C1-B87F-A7903D8A62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505D20E-3C4B-718E-2F20-A75E1E2523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050919-A35A-4C29-A571-D1B17A93F0E8}" type="slidenum">
              <a:rPr lang="en-IN" smtClean="0"/>
              <a:t>‹#›</a:t>
            </a:fld>
            <a:endParaRPr lang="en-IN"/>
          </a:p>
        </p:txBody>
      </p:sp>
    </p:spTree>
    <p:extLst>
      <p:ext uri="{BB962C8B-B14F-4D97-AF65-F5344CB8AC3E}">
        <p14:creationId xmlns:p14="http://schemas.microsoft.com/office/powerpoint/2010/main" val="513815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092D-1A64-860F-A144-FF603A0E55E4}"/>
              </a:ext>
            </a:extLst>
          </p:cNvPr>
          <p:cNvSpPr>
            <a:spLocks noGrp="1"/>
          </p:cNvSpPr>
          <p:nvPr>
            <p:ph type="ctrTitle"/>
          </p:nvPr>
        </p:nvSpPr>
        <p:spPr>
          <a:xfrm>
            <a:off x="1524000" y="141515"/>
            <a:ext cx="9144000" cy="751114"/>
          </a:xfrm>
        </p:spPr>
        <p:txBody>
          <a:bodyPr>
            <a:normAutofit fontScale="90000"/>
          </a:bodyPr>
          <a:lstStyle/>
          <a:p>
            <a:r>
              <a:rPr lang="en-US" b="1"/>
              <a:t>BRITISH AIRWAYS CSAT</a:t>
            </a:r>
            <a:endParaRPr lang="en-IN" b="1" dirty="0"/>
          </a:p>
        </p:txBody>
      </p:sp>
      <p:sp>
        <p:nvSpPr>
          <p:cNvPr id="4" name="TextBox 3">
            <a:extLst>
              <a:ext uri="{FF2B5EF4-FFF2-40B4-BE49-F238E27FC236}">
                <a16:creationId xmlns:a16="http://schemas.microsoft.com/office/drawing/2014/main" id="{40D9CF17-83F8-BB41-E382-0B846D668499}"/>
              </a:ext>
            </a:extLst>
          </p:cNvPr>
          <p:cNvSpPr txBox="1"/>
          <p:nvPr/>
        </p:nvSpPr>
        <p:spPr>
          <a:xfrm>
            <a:off x="0" y="892629"/>
            <a:ext cx="12192000" cy="400110"/>
          </a:xfrm>
          <a:prstGeom prst="rect">
            <a:avLst/>
          </a:prstGeom>
          <a:noFill/>
        </p:spPr>
        <p:txBody>
          <a:bodyPr wrap="square" rtlCol="0">
            <a:spAutoFit/>
          </a:bodyPr>
          <a:lstStyle/>
          <a:p>
            <a:r>
              <a:rPr lang="en-US" sz="2000" b="1"/>
              <a:t>                                     BRITISH AIRWAYS CUSTOMER SATISFACTION (CSAT) ANALYSIS DASHBOARD </a:t>
            </a:r>
            <a:endParaRPr lang="en-US" sz="2000" b="1" dirty="0"/>
          </a:p>
        </p:txBody>
      </p:sp>
      <p:sp>
        <p:nvSpPr>
          <p:cNvPr id="5" name="TextBox 4">
            <a:extLst>
              <a:ext uri="{FF2B5EF4-FFF2-40B4-BE49-F238E27FC236}">
                <a16:creationId xmlns:a16="http://schemas.microsoft.com/office/drawing/2014/main" id="{71F99933-F143-79A8-DEB9-F6BB6B7E3110}"/>
              </a:ext>
            </a:extLst>
          </p:cNvPr>
          <p:cNvSpPr txBox="1"/>
          <p:nvPr/>
        </p:nvSpPr>
        <p:spPr>
          <a:xfrm>
            <a:off x="0" y="1384300"/>
            <a:ext cx="11823700" cy="5201424"/>
          </a:xfrm>
          <a:prstGeom prst="rect">
            <a:avLst/>
          </a:prstGeom>
          <a:noFill/>
        </p:spPr>
        <p:txBody>
          <a:bodyPr wrap="square" rtlCol="0">
            <a:spAutoFit/>
          </a:bodyPr>
          <a:lstStyle/>
          <a:p>
            <a:r>
              <a:rPr lang="en-US" sz="2400" b="1"/>
              <a:t>Tools Used: </a:t>
            </a:r>
          </a:p>
          <a:p>
            <a:r>
              <a:rPr lang="en-US" sz="2400"/>
              <a:t>		POWER BI</a:t>
            </a:r>
          </a:p>
          <a:p>
            <a:r>
              <a:rPr lang="en-US" sz="2400"/>
              <a:t>		DAX</a:t>
            </a:r>
          </a:p>
          <a:p>
            <a:r>
              <a:rPr lang="en-US" sz="2400"/>
              <a:t>		POWER QUERY</a:t>
            </a:r>
          </a:p>
          <a:p>
            <a:r>
              <a:rPr lang="en-US" sz="2400"/>
              <a:t>		EXCEL/CSV</a:t>
            </a:r>
          </a:p>
          <a:p>
            <a:endParaRPr lang="en-US" sz="2400"/>
          </a:p>
          <a:p>
            <a:r>
              <a:rPr lang="en-US" sz="2800" b="1"/>
              <a:t>PROJECT OVERVIEW:</a:t>
            </a:r>
          </a:p>
          <a:p>
            <a:r>
              <a:rPr lang="en-US" sz="2800" b="1"/>
              <a:t>				</a:t>
            </a:r>
            <a:r>
              <a:rPr lang="en-US" sz="2800"/>
              <a:t>The objective of this project is to analyze customer reviews of British Airways to understand customer satisfaction, identify factors affecting passenger experience, and provide insights that can help improve airline services.</a:t>
            </a:r>
          </a:p>
          <a:p>
            <a:endParaRPr lang="en-IN" sz="2400"/>
          </a:p>
          <a:p>
            <a:endParaRPr lang="en-IN" sz="2400" dirty="0"/>
          </a:p>
        </p:txBody>
      </p:sp>
    </p:spTree>
    <p:extLst>
      <p:ext uri="{BB962C8B-B14F-4D97-AF65-F5344CB8AC3E}">
        <p14:creationId xmlns:p14="http://schemas.microsoft.com/office/powerpoint/2010/main" val="4287851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47DE90-DA5E-B381-4627-4171406671FF}"/>
              </a:ext>
            </a:extLst>
          </p:cNvPr>
          <p:cNvSpPr txBox="1"/>
          <p:nvPr/>
        </p:nvSpPr>
        <p:spPr>
          <a:xfrm>
            <a:off x="0" y="0"/>
            <a:ext cx="12192000" cy="6924973"/>
          </a:xfrm>
          <a:prstGeom prst="rect">
            <a:avLst/>
          </a:prstGeom>
          <a:noFill/>
        </p:spPr>
        <p:txBody>
          <a:bodyPr wrap="square" rtlCol="0">
            <a:spAutoFit/>
          </a:bodyPr>
          <a:lstStyle/>
          <a:p>
            <a:r>
              <a:rPr lang="en-US" sz="2800" b="1"/>
              <a:t>BUSINESS PROBLEM:</a:t>
            </a:r>
          </a:p>
          <a:p>
            <a:r>
              <a:rPr lang="en-US" sz="2800" b="1"/>
              <a:t>				</a:t>
            </a:r>
            <a:r>
              <a:rPr lang="en-US" sz="2800"/>
              <a:t>Understand customer satisfaction levels.</a:t>
            </a:r>
          </a:p>
          <a:p>
            <a:r>
              <a:rPr lang="en-US" sz="2800"/>
              <a:t>   				Identify high-performing and low-performing services.</a:t>
            </a:r>
          </a:p>
          <a:p>
            <a:r>
              <a:rPr lang="en-US" sz="2800"/>
              <a:t>				Analyze recommendations by passengers.</a:t>
            </a:r>
          </a:p>
          <a:p>
            <a:r>
              <a:rPr lang="en-US" sz="2800"/>
              <a:t>				Compare customer experience across traveller types, seat 				classes, locations, and time.</a:t>
            </a:r>
          </a:p>
          <a:p>
            <a:endParaRPr lang="en-US" sz="2800"/>
          </a:p>
          <a:p>
            <a:r>
              <a:rPr lang="en-US" sz="2800" b="1"/>
              <a:t>DATASET INFORMATION:</a:t>
            </a:r>
          </a:p>
          <a:p>
            <a:endParaRPr lang="en-US" sz="2800" b="1"/>
          </a:p>
          <a:p>
            <a:r>
              <a:rPr lang="en-US" sz="2400" b="1"/>
              <a:t>DATASET SOURCE : </a:t>
            </a:r>
            <a:r>
              <a:rPr lang="en-US" sz="2400"/>
              <a:t>British Airways Customer Reviews Dataset</a:t>
            </a:r>
          </a:p>
          <a:p>
            <a:r>
              <a:rPr lang="en-US" sz="2400" b="1"/>
              <a:t>Number of Reviews: </a:t>
            </a:r>
            <a:r>
              <a:rPr lang="en-US" sz="2400"/>
              <a:t>1325</a:t>
            </a:r>
          </a:p>
          <a:p>
            <a:endParaRPr lang="en-US" sz="2400"/>
          </a:p>
          <a:p>
            <a:r>
              <a:rPr lang="en-IN" sz="2400" b="1"/>
              <a:t>Tables Used : </a:t>
            </a:r>
            <a:r>
              <a:rPr lang="en-IN" sz="2400"/>
              <a:t>ba_reviews , countries , Date Table</a:t>
            </a:r>
          </a:p>
          <a:p>
            <a:endParaRPr lang="en-IN" sz="2400"/>
          </a:p>
          <a:p>
            <a:r>
              <a:rPr lang="en-IN" sz="2400" b="1"/>
              <a:t>Important Columns : </a:t>
            </a:r>
            <a:r>
              <a:rPr lang="en-IN" sz="2400"/>
              <a:t>Rating , Recommendation ,Seat Type , Traveller Type , Aircraft , Country , 				Date , Entertainment , Food &amp; Beverages , Seat Comfort , Ground Service , </a:t>
            </a:r>
          </a:p>
          <a:p>
            <a:r>
              <a:rPr lang="en-IN" sz="2400" b="1"/>
              <a:t>			</a:t>
            </a:r>
            <a:r>
              <a:rPr lang="en-IN" sz="2400"/>
              <a:t>Cabin Staff Service ,  Value for Money</a:t>
            </a:r>
            <a:endParaRPr lang="en-IN" sz="2400" b="1" dirty="0"/>
          </a:p>
        </p:txBody>
      </p:sp>
    </p:spTree>
    <p:extLst>
      <p:ext uri="{BB962C8B-B14F-4D97-AF65-F5344CB8AC3E}">
        <p14:creationId xmlns:p14="http://schemas.microsoft.com/office/powerpoint/2010/main" val="2336214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460229-7487-2D84-45B1-51E8E90BAE19}"/>
              </a:ext>
            </a:extLst>
          </p:cNvPr>
          <p:cNvSpPr txBox="1"/>
          <p:nvPr/>
        </p:nvSpPr>
        <p:spPr>
          <a:xfrm>
            <a:off x="0" y="0"/>
            <a:ext cx="12192000" cy="5109091"/>
          </a:xfrm>
          <a:prstGeom prst="rect">
            <a:avLst/>
          </a:prstGeom>
          <a:noFill/>
        </p:spPr>
        <p:txBody>
          <a:bodyPr wrap="square" rtlCol="0">
            <a:spAutoFit/>
          </a:bodyPr>
          <a:lstStyle/>
          <a:p>
            <a:r>
              <a:rPr lang="en-US" sz="2800" b="1" dirty="0"/>
              <a:t>Data Preparation :</a:t>
            </a:r>
          </a:p>
          <a:p>
            <a:endParaRPr lang="en-US" sz="2800" b="1" dirty="0"/>
          </a:p>
          <a:p>
            <a:r>
              <a:rPr lang="en-US" sz="2400" b="1" dirty="0"/>
              <a:t>Data Cleaning :</a:t>
            </a:r>
          </a:p>
          <a:p>
            <a:endParaRPr lang="en-US" dirty="0"/>
          </a:p>
          <a:p>
            <a:pPr marL="342900" indent="-342900">
              <a:buFont typeface="Arial" panose="020B0604020202020204" pitchFamily="34" charset="0"/>
              <a:buChar char="•"/>
            </a:pPr>
            <a:r>
              <a:rPr lang="en-US" sz="2000" dirty="0"/>
              <a:t>Removed unnecessary columns</a:t>
            </a:r>
          </a:p>
          <a:p>
            <a:pPr marL="342900" indent="-342900">
              <a:buFont typeface="Arial" panose="020B0604020202020204" pitchFamily="34" charset="0"/>
              <a:buChar char="•"/>
            </a:pPr>
            <a:r>
              <a:rPr lang="en-US" sz="2000" dirty="0"/>
              <a:t>Converted data types</a:t>
            </a:r>
          </a:p>
          <a:p>
            <a:pPr marL="342900" indent="-342900">
              <a:buFont typeface="Arial" panose="020B0604020202020204" pitchFamily="34" charset="0"/>
              <a:buChar char="•"/>
            </a:pPr>
            <a:r>
              <a:rPr lang="en-US" sz="2000" dirty="0"/>
              <a:t>Created relationships</a:t>
            </a:r>
          </a:p>
          <a:p>
            <a:pPr marL="342900" indent="-342900">
              <a:buFont typeface="Arial" panose="020B0604020202020204" pitchFamily="34" charset="0"/>
              <a:buChar char="•"/>
            </a:pPr>
            <a:r>
              <a:rPr lang="en-US" sz="2000" dirty="0"/>
              <a:t>Created Date Table</a:t>
            </a:r>
          </a:p>
          <a:p>
            <a:pPr marL="342900" indent="-342900">
              <a:buFont typeface="Arial" panose="020B0604020202020204" pitchFamily="34" charset="0"/>
              <a:buChar char="•"/>
            </a:pPr>
            <a:r>
              <a:rPr lang="en-US" sz="2000" dirty="0"/>
              <a:t>Built DAX Measures</a:t>
            </a:r>
          </a:p>
          <a:p>
            <a:pPr marL="342900" indent="-342900">
              <a:buFont typeface="Arial" panose="020B0604020202020204" pitchFamily="34" charset="0"/>
              <a:buChar char="•"/>
            </a:pPr>
            <a:r>
              <a:rPr lang="en-US" sz="2000" dirty="0"/>
              <a:t>Checked missing values</a:t>
            </a:r>
          </a:p>
          <a:p>
            <a:pPr marL="342900" indent="-342900">
              <a:buFont typeface="Arial" panose="020B0604020202020204" pitchFamily="34" charset="0"/>
              <a:buChar char="•"/>
            </a:pPr>
            <a:endParaRPr lang="en-US" sz="2000" dirty="0"/>
          </a:p>
          <a:p>
            <a:r>
              <a:rPr lang="en-US" sz="2400" b="1" dirty="0"/>
              <a:t>Relationships :</a:t>
            </a:r>
          </a:p>
          <a:p>
            <a:endParaRPr lang="en-US" sz="2400" b="1" dirty="0"/>
          </a:p>
          <a:p>
            <a:pPr marL="342900" indent="-342900">
              <a:buFont typeface="Arial" panose="020B0604020202020204" pitchFamily="34" charset="0"/>
              <a:buChar char="•"/>
            </a:pPr>
            <a:r>
              <a:rPr lang="en-US" sz="2000" dirty="0"/>
              <a:t>Countries </a:t>
            </a:r>
            <a:r>
              <a:rPr lang="en-US" sz="2000" dirty="0">
                <a:sym typeface="Wingdings" panose="05000000000000000000" pitchFamily="2" charset="2"/>
              </a:rPr>
              <a:t></a:t>
            </a:r>
            <a:r>
              <a:rPr lang="en-US" sz="2000" dirty="0"/>
              <a:t> </a:t>
            </a:r>
            <a:r>
              <a:rPr lang="en-US" sz="2000" dirty="0" err="1"/>
              <a:t>ba_reviews</a:t>
            </a:r>
            <a:endParaRPr lang="en-US" sz="2000" dirty="0"/>
          </a:p>
          <a:p>
            <a:pPr marL="342900" indent="-342900">
              <a:buFont typeface="Arial" panose="020B0604020202020204" pitchFamily="34" charset="0"/>
              <a:buChar char="•"/>
            </a:pPr>
            <a:r>
              <a:rPr lang="en-US" sz="2000" dirty="0"/>
              <a:t>Date Table </a:t>
            </a:r>
            <a:r>
              <a:rPr lang="en-US" sz="2000" dirty="0">
                <a:sym typeface="Wingdings" panose="05000000000000000000" pitchFamily="2" charset="2"/>
              </a:rPr>
              <a:t> </a:t>
            </a:r>
            <a:r>
              <a:rPr lang="en-US" sz="2000" dirty="0" err="1">
                <a:sym typeface="Wingdings" panose="05000000000000000000" pitchFamily="2" charset="2"/>
              </a:rPr>
              <a:t>ba_reviews</a:t>
            </a:r>
            <a:endParaRPr lang="en-IN" sz="2000" dirty="0"/>
          </a:p>
        </p:txBody>
      </p:sp>
    </p:spTree>
    <p:extLst>
      <p:ext uri="{BB962C8B-B14F-4D97-AF65-F5344CB8AC3E}">
        <p14:creationId xmlns:p14="http://schemas.microsoft.com/office/powerpoint/2010/main" val="417702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Freeform: Shape 25">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Freeform: Shape 27">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24118DA9-4D08-BC6E-E06C-B72C785D0504}"/>
              </a:ext>
            </a:extLst>
          </p:cNvPr>
          <p:cNvSpPr txBox="1"/>
          <p:nvPr/>
        </p:nvSpPr>
        <p:spPr>
          <a:xfrm>
            <a:off x="371094"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1"/>
              <a:t>Dashboard Pages :</a:t>
            </a:r>
          </a:p>
          <a:p>
            <a:pPr indent="-228600">
              <a:lnSpc>
                <a:spcPct val="90000"/>
              </a:lnSpc>
              <a:spcAft>
                <a:spcPts val="600"/>
              </a:spcAft>
              <a:buFont typeface="Arial" panose="020B0604020202020204" pitchFamily="34" charset="0"/>
              <a:buChar char="•"/>
            </a:pPr>
            <a:r>
              <a:rPr lang="en-US" sz="1700" b="1"/>
              <a:t>Executive Dashboard :</a:t>
            </a:r>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a:p>
            <a:pPr indent="-228600">
              <a:lnSpc>
                <a:spcPct val="90000"/>
              </a:lnSpc>
              <a:spcAft>
                <a:spcPts val="600"/>
              </a:spcAft>
              <a:buFont typeface="Arial" panose="020B0604020202020204" pitchFamily="34" charset="0"/>
              <a:buChar char="•"/>
            </a:pPr>
            <a:endParaRPr lang="en-US" sz="1700" b="1"/>
          </a:p>
        </p:txBody>
      </p:sp>
      <p:pic>
        <p:nvPicPr>
          <p:cNvPr id="6" name="Picture 5">
            <a:extLst>
              <a:ext uri="{FF2B5EF4-FFF2-40B4-BE49-F238E27FC236}">
                <a16:creationId xmlns:a16="http://schemas.microsoft.com/office/drawing/2014/main" id="{34A4BF31-F5C9-58A6-2850-29FACC9742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1549782"/>
            <a:ext cx="6922008" cy="3859019"/>
          </a:xfrm>
          <a:prstGeom prst="rect">
            <a:avLst/>
          </a:prstGeom>
        </p:spPr>
      </p:pic>
    </p:spTree>
    <p:extLst>
      <p:ext uri="{BB962C8B-B14F-4D97-AF65-F5344CB8AC3E}">
        <p14:creationId xmlns:p14="http://schemas.microsoft.com/office/powerpoint/2010/main" val="1904390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4978B1BA-1BFB-F6F9-4A7C-D7DD6DAC57DE}"/>
              </a:ext>
            </a:extLst>
          </p:cNvPr>
          <p:cNvSpPr txBox="1"/>
          <p:nvPr/>
        </p:nvSpPr>
        <p:spPr>
          <a:xfrm>
            <a:off x="371094"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1" dirty="0"/>
              <a:t> Customer Review Analysis :</a:t>
            </a:r>
          </a:p>
          <a:p>
            <a:pPr>
              <a:lnSpc>
                <a:spcPct val="90000"/>
              </a:lnSpc>
              <a:spcAft>
                <a:spcPts val="600"/>
              </a:spcAft>
            </a:pPr>
            <a:r>
              <a:rPr lang="en-US" sz="1600" dirty="0"/>
              <a:t>Traveler and seat analysis</a:t>
            </a:r>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a:p>
            <a:pPr indent="-228600">
              <a:lnSpc>
                <a:spcPct val="90000"/>
              </a:lnSpc>
              <a:spcAft>
                <a:spcPts val="600"/>
              </a:spcAft>
              <a:buFont typeface="Arial" panose="020B0604020202020204" pitchFamily="34" charset="0"/>
              <a:buChar char="•"/>
            </a:pPr>
            <a:endParaRPr lang="en-US" sz="1700" b="1" dirty="0"/>
          </a:p>
        </p:txBody>
      </p:sp>
      <p:pic>
        <p:nvPicPr>
          <p:cNvPr id="4" name="Picture 3">
            <a:extLst>
              <a:ext uri="{FF2B5EF4-FFF2-40B4-BE49-F238E27FC236}">
                <a16:creationId xmlns:a16="http://schemas.microsoft.com/office/drawing/2014/main" id="{BF5DCD75-76E7-44E9-CB71-DB73D8B794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1184" y="1584393"/>
            <a:ext cx="6922008" cy="3789797"/>
          </a:xfrm>
          <a:prstGeom prst="rect">
            <a:avLst/>
          </a:prstGeom>
        </p:spPr>
      </p:pic>
    </p:spTree>
    <p:extLst>
      <p:ext uri="{BB962C8B-B14F-4D97-AF65-F5344CB8AC3E}">
        <p14:creationId xmlns:p14="http://schemas.microsoft.com/office/powerpoint/2010/main" val="186786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7B013B-DC11-A052-D705-4A5DF50FB823}"/>
              </a:ext>
            </a:extLst>
          </p:cNvPr>
          <p:cNvSpPr txBox="1"/>
          <p:nvPr/>
        </p:nvSpPr>
        <p:spPr>
          <a:xfrm>
            <a:off x="76200" y="130629"/>
            <a:ext cx="12039600" cy="6740307"/>
          </a:xfrm>
          <a:prstGeom prst="rect">
            <a:avLst/>
          </a:prstGeom>
          <a:noFill/>
        </p:spPr>
        <p:txBody>
          <a:bodyPr wrap="square" rtlCol="0">
            <a:spAutoFit/>
          </a:bodyPr>
          <a:lstStyle/>
          <a:p>
            <a:r>
              <a:rPr lang="en-US" sz="2400" b="1" dirty="0"/>
              <a:t>Geographic &amp; Time Analysis :</a:t>
            </a:r>
          </a:p>
          <a:p>
            <a:r>
              <a:rPr lang="en-US" sz="2000" dirty="0"/>
              <a:t>Country-wise &amp; yearly trends</a:t>
            </a:r>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US" sz="2400" b="1" dirty="0"/>
          </a:p>
          <a:p>
            <a:endParaRPr lang="en-IN" sz="2400" b="1" dirty="0"/>
          </a:p>
        </p:txBody>
      </p:sp>
      <p:pic>
        <p:nvPicPr>
          <p:cNvPr id="4" name="Picture 3">
            <a:extLst>
              <a:ext uri="{FF2B5EF4-FFF2-40B4-BE49-F238E27FC236}">
                <a16:creationId xmlns:a16="http://schemas.microsoft.com/office/drawing/2014/main" id="{7500BAF4-854A-EF51-E6BF-541D5C7E4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0961" y="860756"/>
            <a:ext cx="8534839" cy="4788146"/>
          </a:xfrm>
          <a:prstGeom prst="rect">
            <a:avLst/>
          </a:prstGeom>
        </p:spPr>
      </p:pic>
    </p:spTree>
    <p:extLst>
      <p:ext uri="{BB962C8B-B14F-4D97-AF65-F5344CB8AC3E}">
        <p14:creationId xmlns:p14="http://schemas.microsoft.com/office/powerpoint/2010/main" val="3929702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AA2B1A-C8A1-C43A-7910-2148E9ECFED7}"/>
              </a:ext>
            </a:extLst>
          </p:cNvPr>
          <p:cNvSpPr txBox="1"/>
          <p:nvPr/>
        </p:nvSpPr>
        <p:spPr>
          <a:xfrm>
            <a:off x="0" y="0"/>
            <a:ext cx="12192000" cy="769441"/>
          </a:xfrm>
          <a:prstGeom prst="rect">
            <a:avLst/>
          </a:prstGeom>
          <a:noFill/>
        </p:spPr>
        <p:txBody>
          <a:bodyPr wrap="square" rtlCol="0">
            <a:spAutoFit/>
          </a:bodyPr>
          <a:lstStyle/>
          <a:p>
            <a:r>
              <a:rPr lang="en-US" sz="2400" b="1" dirty="0"/>
              <a:t>Service Quality Analysis :</a:t>
            </a:r>
          </a:p>
          <a:p>
            <a:r>
              <a:rPr lang="en-IN" sz="2000" dirty="0"/>
              <a:t>Comparison of service ratings</a:t>
            </a:r>
          </a:p>
        </p:txBody>
      </p:sp>
      <p:pic>
        <p:nvPicPr>
          <p:cNvPr id="4" name="Picture 3">
            <a:extLst>
              <a:ext uri="{FF2B5EF4-FFF2-40B4-BE49-F238E27FC236}">
                <a16:creationId xmlns:a16="http://schemas.microsoft.com/office/drawing/2014/main" id="{057B52A0-BE07-4ECB-CC9A-6F1402D29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6066" y="964627"/>
            <a:ext cx="8445934" cy="4667490"/>
          </a:xfrm>
          <a:prstGeom prst="rect">
            <a:avLst/>
          </a:prstGeom>
        </p:spPr>
      </p:pic>
    </p:spTree>
    <p:extLst>
      <p:ext uri="{BB962C8B-B14F-4D97-AF65-F5344CB8AC3E}">
        <p14:creationId xmlns:p14="http://schemas.microsoft.com/office/powerpoint/2010/main" val="926537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504B12-A9ED-00D9-142E-2A528A41247B}"/>
              </a:ext>
            </a:extLst>
          </p:cNvPr>
          <p:cNvSpPr txBox="1"/>
          <p:nvPr/>
        </p:nvSpPr>
        <p:spPr>
          <a:xfrm>
            <a:off x="0" y="76200"/>
            <a:ext cx="12192000" cy="12649617"/>
          </a:xfrm>
          <a:prstGeom prst="rect">
            <a:avLst/>
          </a:prstGeom>
          <a:noFill/>
        </p:spPr>
        <p:txBody>
          <a:bodyPr wrap="square" rtlCol="0">
            <a:spAutoFit/>
          </a:bodyPr>
          <a:lstStyle/>
          <a:p>
            <a:r>
              <a:rPr lang="en-US" sz="2800" b="1" dirty="0"/>
              <a:t>Executive Dashboard Insights :</a:t>
            </a:r>
          </a:p>
          <a:p>
            <a:r>
              <a:rPr lang="en-US" sz="2400" b="1" dirty="0"/>
              <a:t>Key Metrices :</a:t>
            </a:r>
          </a:p>
          <a:p>
            <a:endParaRPr lang="en-US" sz="2400" b="1" dirty="0"/>
          </a:p>
          <a:p>
            <a:pPr marL="342900" indent="-342900">
              <a:buFont typeface="Arial" panose="020B0604020202020204" pitchFamily="34" charset="0"/>
              <a:buChar char="•"/>
            </a:pPr>
            <a:r>
              <a:rPr lang="en-US" sz="2000" dirty="0"/>
              <a:t>Total Reviews: 1,325</a:t>
            </a:r>
          </a:p>
          <a:p>
            <a:pPr marL="342900" indent="-342900">
              <a:buFont typeface="Arial" panose="020B0604020202020204" pitchFamily="34" charset="0"/>
              <a:buChar char="•"/>
            </a:pPr>
            <a:r>
              <a:rPr lang="en-US" sz="2000" dirty="0"/>
              <a:t>Average Overall Rating: 4.19/10</a:t>
            </a:r>
          </a:p>
          <a:p>
            <a:pPr marL="342900" indent="-342900">
              <a:buFont typeface="Arial" panose="020B0604020202020204" pitchFamily="34" charset="0"/>
              <a:buChar char="•"/>
            </a:pPr>
            <a:r>
              <a:rPr lang="en-US" sz="2000" dirty="0"/>
              <a:t>Recommendation Rate: 42%</a:t>
            </a:r>
          </a:p>
          <a:p>
            <a:pPr marL="342900" indent="-342900">
              <a:buFont typeface="Arial" panose="020B0604020202020204" pitchFamily="34" charset="0"/>
              <a:buChar char="•"/>
            </a:pPr>
            <a:r>
              <a:rPr lang="en-US" sz="2000" dirty="0"/>
              <a:t>Average Cabin Staff Service: 3.28</a:t>
            </a:r>
          </a:p>
          <a:p>
            <a:pPr marL="342900" indent="-342900">
              <a:buFont typeface="Arial" panose="020B0604020202020204" pitchFamily="34" charset="0"/>
              <a:buChar char="•"/>
            </a:pPr>
            <a:r>
              <a:rPr lang="en-US" sz="2000" dirty="0"/>
              <a:t>Average Ground Service: 3.03</a:t>
            </a:r>
          </a:p>
          <a:p>
            <a:pPr marL="342900" indent="-342900">
              <a:buFont typeface="Arial" panose="020B0604020202020204" pitchFamily="34" charset="0"/>
              <a:buChar char="•"/>
            </a:pPr>
            <a:r>
              <a:rPr lang="en-US" sz="2000" dirty="0"/>
              <a:t>Average Seat Comfort: 2.88</a:t>
            </a:r>
          </a:p>
          <a:p>
            <a:pPr marL="342900" indent="-342900">
              <a:buFont typeface="Arial" panose="020B0604020202020204" pitchFamily="34" charset="0"/>
              <a:buChar char="•"/>
            </a:pPr>
            <a:r>
              <a:rPr lang="en-US" sz="2000" dirty="0"/>
              <a:t>Average Value for Money: 2.78</a:t>
            </a:r>
          </a:p>
          <a:p>
            <a:pPr marL="342900" indent="-342900">
              <a:buFont typeface="Arial" panose="020B0604020202020204" pitchFamily="34" charset="0"/>
              <a:buChar char="•"/>
            </a:pPr>
            <a:r>
              <a:rPr lang="en-US" sz="2000" dirty="0"/>
              <a:t>Average Food &amp; Beverages: 2.39</a:t>
            </a:r>
          </a:p>
          <a:p>
            <a:pPr marL="342900" indent="-342900">
              <a:buFont typeface="Arial" panose="020B0604020202020204" pitchFamily="34" charset="0"/>
              <a:buChar char="•"/>
            </a:pPr>
            <a:r>
              <a:rPr lang="en-US" sz="2000" dirty="0"/>
              <a:t>Average Entertainment: 1.44</a:t>
            </a:r>
          </a:p>
          <a:p>
            <a:pPr marL="342900" indent="-342900">
              <a:buFont typeface="Arial" panose="020B0604020202020204" pitchFamily="34" charset="0"/>
              <a:buChar char="•"/>
            </a:pPr>
            <a:endParaRPr lang="en-US" sz="2000" dirty="0"/>
          </a:p>
          <a:p>
            <a:r>
              <a:rPr lang="en-US" sz="2400" b="1" dirty="0"/>
              <a:t>Insights :</a:t>
            </a:r>
          </a:p>
          <a:p>
            <a:endParaRPr lang="en-US" sz="2400" b="1" dirty="0"/>
          </a:p>
          <a:p>
            <a:pPr marL="342900" indent="-342900">
              <a:buFont typeface="Arial" panose="020B0604020202020204" pitchFamily="34" charset="0"/>
              <a:buChar char="•"/>
            </a:pPr>
            <a:r>
              <a:rPr lang="en-US" sz="2000" dirty="0"/>
              <a:t>Less than half of customers recommend British Airways.</a:t>
            </a:r>
          </a:p>
          <a:p>
            <a:pPr marL="342900" indent="-342900">
              <a:buFont typeface="Arial" panose="020B0604020202020204" pitchFamily="34" charset="0"/>
              <a:buChar char="•"/>
            </a:pPr>
            <a:r>
              <a:rPr lang="en-US" sz="2000" dirty="0"/>
              <a:t>Cabin Staff Service is the highest-rated service.</a:t>
            </a:r>
          </a:p>
          <a:p>
            <a:pPr marL="342900" indent="-342900">
              <a:buFont typeface="Arial" panose="020B0604020202020204" pitchFamily="34" charset="0"/>
              <a:buChar char="•"/>
            </a:pPr>
            <a:r>
              <a:rPr lang="en-US" sz="2000" dirty="0"/>
              <a:t>Entertainment is the lowest-rated aspect, indicating a major improvement area.</a:t>
            </a:r>
          </a:p>
          <a:p>
            <a:pPr marL="342900" indent="-342900">
              <a:buFont typeface="Arial" panose="020B0604020202020204" pitchFamily="34" charset="0"/>
              <a:buChar char="•"/>
            </a:pPr>
            <a:r>
              <a:rPr lang="en-US" sz="2000" dirty="0"/>
              <a:t>Food &amp; Beverages and Value for Money also receive relatively low ratings.</a:t>
            </a:r>
          </a:p>
          <a:p>
            <a:pPr marL="342900" indent="-342900">
              <a:buFont typeface="Arial" panose="020B0604020202020204" pitchFamily="34" charset="0"/>
              <a:buChar char="•"/>
            </a:pPr>
            <a:r>
              <a:rPr lang="en-US" sz="2000" dirty="0"/>
              <a:t>Overall customer satisfaction is moderate rather than excellent.</a:t>
            </a:r>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pPr marL="457200" indent="-457200">
              <a:buFont typeface="Arial" panose="020B0604020202020204" pitchFamily="34" charset="0"/>
              <a:buChar char="•"/>
            </a:pPr>
            <a:endParaRPr lang="en-US" sz="2800" b="1" dirty="0"/>
          </a:p>
        </p:txBody>
      </p:sp>
    </p:spTree>
    <p:extLst>
      <p:ext uri="{BB962C8B-B14F-4D97-AF65-F5344CB8AC3E}">
        <p14:creationId xmlns:p14="http://schemas.microsoft.com/office/powerpoint/2010/main" val="2454310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208E54-6E26-6E92-993D-A84C8BDA2C43}"/>
              </a:ext>
            </a:extLst>
          </p:cNvPr>
          <p:cNvSpPr txBox="1"/>
          <p:nvPr/>
        </p:nvSpPr>
        <p:spPr>
          <a:xfrm>
            <a:off x="0" y="0"/>
            <a:ext cx="12192000" cy="11233845"/>
          </a:xfrm>
          <a:prstGeom prst="rect">
            <a:avLst/>
          </a:prstGeom>
          <a:noFill/>
        </p:spPr>
        <p:txBody>
          <a:bodyPr wrap="square" rtlCol="0">
            <a:spAutoFit/>
          </a:bodyPr>
          <a:lstStyle/>
          <a:p>
            <a:r>
              <a:rPr lang="en-US" sz="2800" b="1" dirty="0"/>
              <a:t>Customer Review Analysis Insights :</a:t>
            </a:r>
          </a:p>
          <a:p>
            <a:pPr marL="342900" indent="-342900">
              <a:buFont typeface="Arial" panose="020B0604020202020204" pitchFamily="34" charset="0"/>
              <a:buChar char="•"/>
            </a:pPr>
            <a:r>
              <a:rPr lang="en-US" sz="2400" dirty="0"/>
              <a:t>Solo Leisure passengers gave the highest average ratings.</a:t>
            </a:r>
          </a:p>
          <a:p>
            <a:pPr marL="342900" indent="-342900">
              <a:buFont typeface="Arial" panose="020B0604020202020204" pitchFamily="34" charset="0"/>
              <a:buChar char="•"/>
            </a:pPr>
            <a:r>
              <a:rPr lang="en-US" sz="2400" dirty="0"/>
              <a:t>Family Leisure travelers were comparatively less satisfied.</a:t>
            </a:r>
          </a:p>
          <a:p>
            <a:pPr marL="342900" indent="-342900">
              <a:buFont typeface="Arial" panose="020B0604020202020204" pitchFamily="34" charset="0"/>
              <a:buChar char="•"/>
            </a:pPr>
            <a:r>
              <a:rPr lang="en-US" sz="2400" dirty="0"/>
              <a:t>First Class passengers reported higher satisfaction than Business Class passengers.</a:t>
            </a:r>
          </a:p>
          <a:p>
            <a:pPr marL="342900" indent="-342900">
              <a:buFont typeface="Arial" panose="020B0604020202020204" pitchFamily="34" charset="0"/>
              <a:buChar char="•"/>
            </a:pPr>
            <a:r>
              <a:rPr lang="en-US" sz="2400" dirty="0"/>
              <a:t>Premium Economy performed better than Economy in several service categories.</a:t>
            </a:r>
          </a:p>
          <a:p>
            <a:pPr marL="342900" indent="-342900">
              <a:buFont typeface="Arial" panose="020B0604020202020204" pitchFamily="34" charset="0"/>
              <a:buChar char="•"/>
            </a:pPr>
            <a:r>
              <a:rPr lang="en-US" sz="2400" dirty="0"/>
              <a:t>Most reviews were marked as "Not Recommended," highlighting opportunities to improve customer experience.</a:t>
            </a:r>
          </a:p>
          <a:p>
            <a:pPr marL="342900" indent="-342900">
              <a:buFont typeface="Arial" panose="020B0604020202020204" pitchFamily="34" charset="0"/>
              <a:buChar char="•"/>
            </a:pPr>
            <a:r>
              <a:rPr lang="en-US" sz="2400" dirty="0"/>
              <a:t>Airbus A320 and Boeing 777 aircraft received the largest number of reviews.</a:t>
            </a:r>
          </a:p>
          <a:p>
            <a:pPr marL="342900" indent="-342900">
              <a:buFont typeface="Arial" panose="020B0604020202020204" pitchFamily="34" charset="0"/>
              <a:buChar char="•"/>
            </a:pPr>
            <a:endParaRPr lang="en-US" sz="2400" b="1" dirty="0"/>
          </a:p>
          <a:p>
            <a:r>
              <a:rPr lang="en-US" sz="2800" b="1" dirty="0"/>
              <a:t>Geographic &amp; Time Analysis Insight :</a:t>
            </a:r>
          </a:p>
          <a:p>
            <a:pPr marL="457200" indent="-457200">
              <a:buFont typeface="Arial" panose="020B0604020202020204" pitchFamily="34" charset="0"/>
              <a:buChar char="•"/>
            </a:pPr>
            <a:r>
              <a:rPr lang="en-US" sz="2400" dirty="0"/>
              <a:t>Europe generated the highest number of customer reviews.</a:t>
            </a:r>
          </a:p>
          <a:p>
            <a:pPr marL="457200" indent="-457200">
              <a:buFont typeface="Arial" panose="020B0604020202020204" pitchFamily="34" charset="0"/>
              <a:buChar char="•"/>
            </a:pPr>
            <a:r>
              <a:rPr lang="en-US" sz="2400" dirty="0"/>
              <a:t>Asia and North America contributed a moderate number of reviews.</a:t>
            </a:r>
          </a:p>
          <a:p>
            <a:pPr marL="457200" indent="-457200">
              <a:buFont typeface="Arial" panose="020B0604020202020204" pitchFamily="34" charset="0"/>
              <a:buChar char="•"/>
            </a:pPr>
            <a:r>
              <a:rPr lang="en-US" sz="2400" dirty="0"/>
              <a:t>Africa and South America had relatively few reviews.</a:t>
            </a:r>
          </a:p>
          <a:p>
            <a:pPr marL="457200" indent="-457200">
              <a:buFont typeface="Arial" panose="020B0604020202020204" pitchFamily="34" charset="0"/>
              <a:buChar char="•"/>
            </a:pPr>
            <a:r>
              <a:rPr lang="en-US" sz="2400" dirty="0"/>
              <a:t>Customer reviews peaked around 2017 and declined in later years.</a:t>
            </a:r>
          </a:p>
          <a:p>
            <a:pPr marL="457200" indent="-457200">
              <a:buFont typeface="Arial" panose="020B0604020202020204" pitchFamily="34" charset="0"/>
              <a:buChar char="•"/>
            </a:pPr>
            <a:r>
              <a:rPr lang="en-US" sz="2400" dirty="0"/>
              <a:t>Average ratings vary significantly by country, showing differences in customer experience across regions.</a:t>
            </a:r>
          </a:p>
          <a:p>
            <a:endParaRPr lang="en-US" sz="24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p:txBody>
      </p:sp>
    </p:spTree>
    <p:extLst>
      <p:ext uri="{BB962C8B-B14F-4D97-AF65-F5344CB8AC3E}">
        <p14:creationId xmlns:p14="http://schemas.microsoft.com/office/powerpoint/2010/main" val="407644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F975E-1605-0E95-D025-DDFB5C28029D}"/>
              </a:ext>
            </a:extLst>
          </p:cNvPr>
          <p:cNvSpPr txBox="1"/>
          <p:nvPr/>
        </p:nvSpPr>
        <p:spPr>
          <a:xfrm>
            <a:off x="0" y="0"/>
            <a:ext cx="12279086" cy="12588061"/>
          </a:xfrm>
          <a:prstGeom prst="rect">
            <a:avLst/>
          </a:prstGeom>
          <a:noFill/>
        </p:spPr>
        <p:txBody>
          <a:bodyPr wrap="square" rtlCol="0">
            <a:spAutoFit/>
          </a:bodyPr>
          <a:lstStyle/>
          <a:p>
            <a:r>
              <a:rPr lang="en-US" sz="2800" b="1" dirty="0"/>
              <a:t>Service Quality Analysis Insights :</a:t>
            </a:r>
          </a:p>
          <a:p>
            <a:endParaRPr lang="en-US" sz="2800" b="1" dirty="0"/>
          </a:p>
          <a:p>
            <a:pPr marL="457200" indent="-457200">
              <a:buFont typeface="Arial" panose="020B0604020202020204" pitchFamily="34" charset="0"/>
              <a:buChar char="•"/>
            </a:pPr>
            <a:r>
              <a:rPr lang="en-US" sz="2400" dirty="0"/>
              <a:t>First Class achieved the highest average rating.</a:t>
            </a:r>
          </a:p>
          <a:p>
            <a:pPr marL="457200" indent="-457200">
              <a:buFont typeface="Arial" panose="020B0604020202020204" pitchFamily="34" charset="0"/>
              <a:buChar char="•"/>
            </a:pPr>
            <a:r>
              <a:rPr lang="en-US" sz="2400" dirty="0"/>
              <a:t>Business Class scored slightly lower than expected, suggesting room for improvement.</a:t>
            </a:r>
          </a:p>
          <a:p>
            <a:pPr marL="457200" indent="-457200">
              <a:buFont typeface="Arial" panose="020B0604020202020204" pitchFamily="34" charset="0"/>
              <a:buChar char="•"/>
            </a:pPr>
            <a:r>
              <a:rPr lang="en-US" sz="2400" dirty="0"/>
              <a:t>Ground Service and Cabin Staff Service consistently received good ratings.</a:t>
            </a:r>
          </a:p>
          <a:p>
            <a:pPr marL="457200" indent="-457200">
              <a:buFont typeface="Arial" panose="020B0604020202020204" pitchFamily="34" charset="0"/>
              <a:buChar char="•"/>
            </a:pPr>
            <a:r>
              <a:rPr lang="en-US" sz="2400" dirty="0"/>
              <a:t>Entertainment, Food &amp; Beverages, and Value for Money remained the weakest service categories across all seat types.</a:t>
            </a:r>
          </a:p>
          <a:p>
            <a:pPr marL="457200" indent="-457200">
              <a:buFont typeface="Arial" panose="020B0604020202020204" pitchFamily="34" charset="0"/>
              <a:buChar char="•"/>
            </a:pPr>
            <a:r>
              <a:rPr lang="en-US" sz="2400" dirty="0"/>
              <a:t>Premium passengers generally reported better experiences than Economy passengers.</a:t>
            </a:r>
          </a:p>
          <a:p>
            <a:endParaRPr lang="en-US" sz="2400" b="1" dirty="0"/>
          </a:p>
          <a:p>
            <a:r>
              <a:rPr lang="en-US" sz="2800" b="1" dirty="0"/>
              <a:t>Recommendations :</a:t>
            </a:r>
          </a:p>
          <a:p>
            <a:endParaRPr lang="en-US" sz="2800" b="1" dirty="0"/>
          </a:p>
          <a:p>
            <a:pPr marL="457200" indent="-457200">
              <a:buFont typeface="Arial" panose="020B0604020202020204" pitchFamily="34" charset="0"/>
              <a:buChar char="•"/>
            </a:pPr>
            <a:r>
              <a:rPr lang="en-US" sz="2400" dirty="0"/>
              <a:t>Improve the onboard entertainment system.</a:t>
            </a:r>
          </a:p>
          <a:p>
            <a:pPr marL="457200" indent="-457200">
              <a:buFont typeface="Arial" panose="020B0604020202020204" pitchFamily="34" charset="0"/>
              <a:buChar char="•"/>
            </a:pPr>
            <a:r>
              <a:rPr lang="en-US" sz="2400" dirty="0"/>
              <a:t>Enhance food quality and beverage options.</a:t>
            </a:r>
          </a:p>
          <a:p>
            <a:pPr marL="457200" indent="-457200">
              <a:buFont typeface="Arial" panose="020B0604020202020204" pitchFamily="34" charset="0"/>
              <a:buChar char="•"/>
            </a:pPr>
            <a:r>
              <a:rPr lang="en-US" sz="2400" dirty="0"/>
              <a:t>Increase value for money through better service offerings.</a:t>
            </a:r>
          </a:p>
          <a:p>
            <a:pPr marL="457200" indent="-457200">
              <a:buFont typeface="Arial" panose="020B0604020202020204" pitchFamily="34" charset="0"/>
              <a:buChar char="•"/>
            </a:pPr>
            <a:r>
              <a:rPr lang="en-US" sz="2400" dirty="0"/>
              <a:t>Investigate why Family Leisure </a:t>
            </a:r>
            <a:r>
              <a:rPr lang="en-US" sz="2400" dirty="0" err="1"/>
              <a:t>travellers</a:t>
            </a:r>
            <a:r>
              <a:rPr lang="en-US" sz="2400" dirty="0"/>
              <a:t> are less satisfied.</a:t>
            </a:r>
          </a:p>
          <a:p>
            <a:pPr marL="457200" indent="-457200">
              <a:buFont typeface="Arial" panose="020B0604020202020204" pitchFamily="34" charset="0"/>
              <a:buChar char="•"/>
            </a:pPr>
            <a:r>
              <a:rPr lang="en-US" sz="2400" dirty="0"/>
              <a:t>Replicate the best practices of Cabin Staff across other service areas.</a:t>
            </a:r>
          </a:p>
          <a:p>
            <a:pPr marL="457200" indent="-457200">
              <a:buFont typeface="Arial" panose="020B0604020202020204" pitchFamily="34" charset="0"/>
              <a:buChar char="•"/>
            </a:pPr>
            <a:r>
              <a:rPr lang="en-US" sz="2400" dirty="0"/>
              <a:t>Focus on improving customer satisfaction in lower-rated regions.</a:t>
            </a:r>
          </a:p>
          <a:p>
            <a:endParaRPr lang="en-US" sz="24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p:txBody>
      </p:sp>
    </p:spTree>
    <p:extLst>
      <p:ext uri="{BB962C8B-B14F-4D97-AF65-F5344CB8AC3E}">
        <p14:creationId xmlns:p14="http://schemas.microsoft.com/office/powerpoint/2010/main" val="1068786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FA7E94-C5F9-AF53-B11D-A69512AF0CEE}"/>
              </a:ext>
            </a:extLst>
          </p:cNvPr>
          <p:cNvSpPr txBox="1"/>
          <p:nvPr/>
        </p:nvSpPr>
        <p:spPr>
          <a:xfrm>
            <a:off x="0" y="0"/>
            <a:ext cx="12192000" cy="10618291"/>
          </a:xfrm>
          <a:prstGeom prst="rect">
            <a:avLst/>
          </a:prstGeom>
          <a:noFill/>
        </p:spPr>
        <p:txBody>
          <a:bodyPr wrap="square" rtlCol="0">
            <a:spAutoFit/>
          </a:bodyPr>
          <a:lstStyle/>
          <a:p>
            <a:r>
              <a:rPr lang="en-US" sz="2800" b="1" dirty="0"/>
              <a:t>Final Conclusion :</a:t>
            </a:r>
          </a:p>
          <a:p>
            <a:r>
              <a:rPr lang="en-US" sz="2400" b="1" dirty="0"/>
              <a:t>This dashboard helped to identify ;</a:t>
            </a:r>
          </a:p>
          <a:p>
            <a:endParaRPr lang="en-US" sz="2400" b="1" dirty="0"/>
          </a:p>
          <a:p>
            <a:pPr marL="342900" indent="-342900">
              <a:buFont typeface="Arial" panose="020B0604020202020204" pitchFamily="34" charset="0"/>
              <a:buChar char="•"/>
            </a:pPr>
            <a:r>
              <a:rPr lang="en-US" sz="2000" dirty="0"/>
              <a:t>Overall customer satisfaction level.</a:t>
            </a:r>
          </a:p>
          <a:p>
            <a:pPr marL="342900" indent="-342900">
              <a:buFont typeface="Arial" panose="020B0604020202020204" pitchFamily="34" charset="0"/>
              <a:buChar char="•"/>
            </a:pPr>
            <a:r>
              <a:rPr lang="en-US" sz="2000" dirty="0"/>
              <a:t>Service areas needing immediate attention.</a:t>
            </a:r>
          </a:p>
          <a:p>
            <a:pPr marL="342900" indent="-342900">
              <a:buFont typeface="Arial" panose="020B0604020202020204" pitchFamily="34" charset="0"/>
              <a:buChar char="•"/>
            </a:pPr>
            <a:r>
              <a:rPr lang="en-US" sz="2000" dirty="0"/>
              <a:t>Performance differences across </a:t>
            </a:r>
            <a:r>
              <a:rPr lang="en-US" sz="2000" dirty="0" err="1"/>
              <a:t>traveller</a:t>
            </a:r>
            <a:r>
              <a:rPr lang="en-US" sz="2000" dirty="0"/>
              <a:t> types and seat classes.</a:t>
            </a:r>
          </a:p>
          <a:p>
            <a:pPr marL="342900" indent="-342900">
              <a:buFont typeface="Arial" panose="020B0604020202020204" pitchFamily="34" charset="0"/>
              <a:buChar char="•"/>
            </a:pPr>
            <a:r>
              <a:rPr lang="en-US" sz="2000" dirty="0"/>
              <a:t>Geographic trends in customer satisfaction.</a:t>
            </a:r>
          </a:p>
          <a:p>
            <a:pPr marL="342900" indent="-342900">
              <a:buFont typeface="Arial" panose="020B0604020202020204" pitchFamily="34" charset="0"/>
              <a:buChar char="•"/>
            </a:pPr>
            <a:r>
              <a:rPr lang="en-US" sz="2000" dirty="0"/>
              <a:t>Yearly changes in review patterns.</a:t>
            </a:r>
          </a:p>
          <a:p>
            <a:endParaRPr lang="en-US" sz="2000" dirty="0"/>
          </a:p>
          <a:p>
            <a:r>
              <a:rPr lang="en-US" sz="2400" b="1" dirty="0"/>
              <a:t>Business Impact :</a:t>
            </a:r>
          </a:p>
          <a:p>
            <a:r>
              <a:rPr lang="en-US" sz="2400" b="1" dirty="0"/>
              <a:t>  			</a:t>
            </a:r>
            <a:r>
              <a:rPr lang="en-US" sz="2000" dirty="0"/>
              <a:t>The dashboard enables management to quickly identify weak service 						areas, monitor customer satisfaction, and prioritize improvements using 					data-driven insights.</a:t>
            </a:r>
          </a:p>
          <a:p>
            <a:endParaRPr lang="en-US" sz="2000" dirty="0"/>
          </a:p>
          <a:p>
            <a:endParaRPr lang="en-US" sz="2800" b="1" dirty="0"/>
          </a:p>
          <a:p>
            <a:endParaRPr lang="en-US" sz="2800" b="1" dirty="0"/>
          </a:p>
          <a:p>
            <a:endParaRPr lang="en-US" sz="2800" b="1" dirty="0"/>
          </a:p>
          <a:p>
            <a:r>
              <a:rPr lang="en-US" sz="2800" b="1" dirty="0"/>
              <a:t>									</a:t>
            </a:r>
            <a:r>
              <a:rPr lang="en-US" sz="2800" b="1"/>
              <a:t>Thank You</a:t>
            </a:r>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a:p>
            <a:endParaRPr lang="en-US" sz="2800" b="1" dirty="0"/>
          </a:p>
        </p:txBody>
      </p:sp>
    </p:spTree>
    <p:extLst>
      <p:ext uri="{BB962C8B-B14F-4D97-AF65-F5344CB8AC3E}">
        <p14:creationId xmlns:p14="http://schemas.microsoft.com/office/powerpoint/2010/main" val="3323410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90799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721</Words>
  <Application>Microsoft Office PowerPoint</Application>
  <PresentationFormat>Widescreen</PresentationFormat>
  <Paragraphs>197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BRITISH AIRWAYS CSAT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ASHISH SINGH</dc:creator>
  <cp:lastModifiedBy>ASHISH SINGH</cp:lastModifiedBy>
  <cp:revision>1</cp:revision>
  <dcterms:created xsi:type="dcterms:W3CDTF">2026-07-20T06:21:36Z</dcterms:created>
  <dcterms:modified xsi:type="dcterms:W3CDTF">2026-07-20T07:05:50Z</dcterms:modified>
</cp:coreProperties>
</file>